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Alexandria Medium" panose="020B0604020202020204" charset="-78"/>
      <p:regular r:id="rId13"/>
    </p:embeddedFont>
    <p:embeddedFont>
      <p:font typeface="Manrope" panose="020B0604020202020204" charset="0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87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9963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242939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kern="0" spc="-37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E‑COMMERCE ONLINE SALES ANALYSIS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3707705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just">
              <a:lnSpc>
                <a:spcPct val="1330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Condensed insights from a 1,000‑record transaction dataset to inform revenue timing, product mix, city performance, and order‑value behaviour for strategic decisions.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684933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kern="0" spc="-37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Dataset Summary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661475" y="2559050"/>
            <a:ext cx="1972915" cy="2613918"/>
          </a:xfrm>
          <a:prstGeom prst="roundRect">
            <a:avLst>
              <a:gd name="adj" fmla="val 14371"/>
            </a:avLst>
          </a:prstGeom>
          <a:solidFill>
            <a:srgbClr val="E6F7FF"/>
          </a:solidFill>
          <a:ln w="6350">
            <a:solidFill>
              <a:srgbClr val="B3D5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856832" y="2754412"/>
            <a:ext cx="158220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0" spc="-19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Sample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56832" y="3163094"/>
            <a:ext cx="1582202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1,000 transaction records (CSV imported into Microsoft SQL Server).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2823397" y="2559050"/>
            <a:ext cx="1972915" cy="2613918"/>
          </a:xfrm>
          <a:prstGeom prst="roundRect">
            <a:avLst>
              <a:gd name="adj" fmla="val 14371"/>
            </a:avLst>
          </a:prstGeom>
          <a:solidFill>
            <a:srgbClr val="E6F7FF"/>
          </a:solidFill>
          <a:ln w="6350">
            <a:solidFill>
              <a:srgbClr val="B3D5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3018754" y="2754412"/>
            <a:ext cx="158220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0" spc="-19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Key Fields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3018754" y="3163094"/>
            <a:ext cx="1582202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Order_ID, Date, Product, Category, Quantity, Price, City.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4985320" y="2559050"/>
            <a:ext cx="1972915" cy="2613918"/>
          </a:xfrm>
          <a:prstGeom prst="roundRect">
            <a:avLst>
              <a:gd name="adj" fmla="val 14371"/>
            </a:avLst>
          </a:prstGeom>
          <a:solidFill>
            <a:srgbClr val="E6F7FF"/>
          </a:solidFill>
          <a:ln w="6350">
            <a:solidFill>
              <a:srgbClr val="B3D5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180677" y="2754412"/>
            <a:ext cx="158220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0" spc="-19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Objective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5180677" y="3163094"/>
            <a:ext cx="1582202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Reveal revenue by time, product structure, top categories/cities, AOV and order behaviour.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627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0" spc="-19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Revenue by Month (Jan–Jun 2026)</a:t>
            </a:r>
            <a:endParaRPr lang="en-US" sz="1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2637" b="3836"/>
          <a:stretch>
            <a:fillRect/>
          </a:stretch>
        </p:blipFill>
        <p:spPr>
          <a:xfrm>
            <a:off x="875484" y="1161154"/>
            <a:ext cx="9884388" cy="517703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6816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kern="0" spc="-28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Top Products &amp; Categories (Revenue)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265535"/>
            <a:ext cx="526143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14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Top 5 Products (Revenue)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61475" y="1593255"/>
            <a:ext cx="5261439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Laptop: 11,411,335.17 · Tablet: 5,933,914.06 · Smartphone: 3,535,262.79 · Air Fryer: 1,533,421.53 · Watch: 1,203,724.82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09688"/>
            <a:ext cx="5261439" cy="298152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75131" y="2828032"/>
            <a:ext cx="526143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14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Top 5 Categories (Revenue)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275131" y="3155752"/>
            <a:ext cx="5261439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Electronics: 21,606,517.68 · Home Appliances: 3,141,481.72 · Accessories: 1,630,446.49 · Fashion: 1,152,368.38 · Books: 89,836.77</a:t>
            </a:r>
            <a:endParaRPr lang="en-US" sz="11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5330329"/>
            <a:ext cx="354401" cy="35440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61475" y="5817592"/>
            <a:ext cx="536789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14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Electronics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661475" y="6102747"/>
            <a:ext cx="536789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Primary revenue driver</a:t>
            </a:r>
            <a:endParaRPr lang="en-US" sz="11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62223" y="5330329"/>
            <a:ext cx="354401" cy="35440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162223" y="5817592"/>
            <a:ext cx="53679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14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Home Appliances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6162223" y="6102747"/>
            <a:ext cx="5367997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Strong secondary contributor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kern="0" spc="-19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Top Cities by Revenue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2477" b="3867"/>
          <a:stretch>
            <a:fillRect/>
          </a:stretch>
        </p:blipFill>
        <p:spPr>
          <a:xfrm>
            <a:off x="1326017" y="1242183"/>
            <a:ext cx="9539965" cy="500349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3955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kern="0" spc="-37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Average Order Value (AOV) by City</a:t>
            </a:r>
            <a:endParaRPr lang="en-US" sz="3700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EC89D82-6BDE-D0EF-82A8-37A3D29673D7}"/>
              </a:ext>
            </a:extLst>
          </p:cNvPr>
          <p:cNvGrpSpPr/>
          <p:nvPr/>
        </p:nvGrpSpPr>
        <p:grpSpPr>
          <a:xfrm>
            <a:off x="661475" y="2308225"/>
            <a:ext cx="2575357" cy="1101824"/>
            <a:chOff x="661475" y="2308225"/>
            <a:chExt cx="2575357" cy="1101824"/>
          </a:xfrm>
        </p:grpSpPr>
        <p:sp>
          <p:nvSpPr>
            <p:cNvPr id="3" name="Shape 1"/>
            <p:cNvSpPr/>
            <p:nvPr/>
          </p:nvSpPr>
          <p:spPr>
            <a:xfrm>
              <a:off x="661475" y="2308225"/>
              <a:ext cx="2575357" cy="1101824"/>
            </a:xfrm>
            <a:prstGeom prst="roundRect">
              <a:avLst>
                <a:gd name="adj" fmla="val 25733"/>
              </a:avLst>
            </a:prstGeom>
            <a:solidFill>
              <a:srgbClr val="E6F7FF"/>
            </a:solidFill>
            <a:ln w="6350">
              <a:solidFill>
                <a:srgbClr val="B3D5E4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 2"/>
            <p:cNvSpPr/>
            <p:nvPr/>
          </p:nvSpPr>
          <p:spPr>
            <a:xfrm>
              <a:off x="856832" y="2503587"/>
              <a:ext cx="2184643" cy="29527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850" kern="0" spc="-19" dirty="0">
                  <a:solidFill>
                    <a:srgbClr val="000000"/>
                  </a:solidFill>
                  <a:latin typeface="Alexandria Medium" pitchFamily="34" charset="0"/>
                  <a:ea typeface="Alexandria Medium" pitchFamily="34" charset="-122"/>
                  <a:cs typeface="Alexandria Medium" pitchFamily="34" charset="-120"/>
                </a:rPr>
                <a:t>Bangalore</a:t>
              </a:r>
              <a:endParaRPr lang="en-US" sz="185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856832" y="2912269"/>
              <a:ext cx="2184643" cy="30241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33000"/>
                </a:lnSpc>
                <a:buNone/>
              </a:pPr>
              <a:r>
                <a:rPr lang="en-US" sz="1450" dirty="0">
                  <a:solidFill>
                    <a:srgbClr val="000000"/>
                  </a:solidFill>
                  <a:latin typeface="Manrope" pitchFamily="34" charset="0"/>
                  <a:ea typeface="Manrope" pitchFamily="34" charset="-122"/>
                  <a:cs typeface="Manrope" pitchFamily="34" charset="-120"/>
                </a:rPr>
                <a:t>AOV £35,776.05</a:t>
              </a:r>
              <a:endParaRPr lang="en-US" sz="1450" dirty="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6C4E293-330E-5BB7-84B9-02C7CF3292F5}"/>
              </a:ext>
            </a:extLst>
          </p:cNvPr>
          <p:cNvGrpSpPr/>
          <p:nvPr/>
        </p:nvGrpSpPr>
        <p:grpSpPr>
          <a:xfrm>
            <a:off x="4808070" y="2308225"/>
            <a:ext cx="2575456" cy="1101824"/>
            <a:chOff x="3425839" y="2308225"/>
            <a:chExt cx="2575456" cy="1101824"/>
          </a:xfrm>
        </p:grpSpPr>
        <p:sp>
          <p:nvSpPr>
            <p:cNvPr id="6" name="Shape 4"/>
            <p:cNvSpPr/>
            <p:nvPr/>
          </p:nvSpPr>
          <p:spPr>
            <a:xfrm>
              <a:off x="3425839" y="2308225"/>
              <a:ext cx="2575456" cy="1101824"/>
            </a:xfrm>
            <a:prstGeom prst="roundRect">
              <a:avLst>
                <a:gd name="adj" fmla="val 25733"/>
              </a:avLst>
            </a:prstGeom>
            <a:solidFill>
              <a:srgbClr val="E6F7FF"/>
            </a:solidFill>
            <a:ln w="6350">
              <a:solidFill>
                <a:srgbClr val="B3D5E4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 5"/>
            <p:cNvSpPr/>
            <p:nvPr/>
          </p:nvSpPr>
          <p:spPr>
            <a:xfrm>
              <a:off x="3621195" y="2503587"/>
              <a:ext cx="2184742" cy="29527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850" kern="0" spc="-19" dirty="0">
                  <a:solidFill>
                    <a:srgbClr val="000000"/>
                  </a:solidFill>
                  <a:latin typeface="Alexandria Medium" pitchFamily="34" charset="0"/>
                  <a:ea typeface="Alexandria Medium" pitchFamily="34" charset="-122"/>
                  <a:cs typeface="Alexandria Medium" pitchFamily="34" charset="-120"/>
                </a:rPr>
                <a:t>Kolkata</a:t>
              </a:r>
              <a:endParaRPr lang="en-US" sz="185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3621195" y="2912269"/>
              <a:ext cx="2184742" cy="30241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33000"/>
                </a:lnSpc>
                <a:buNone/>
              </a:pPr>
              <a:r>
                <a:rPr lang="en-US" sz="1450" dirty="0">
                  <a:solidFill>
                    <a:srgbClr val="000000"/>
                  </a:solidFill>
                  <a:latin typeface="Manrope" pitchFamily="34" charset="0"/>
                  <a:ea typeface="Manrope" pitchFamily="34" charset="-122"/>
                  <a:cs typeface="Manrope" pitchFamily="34" charset="-120"/>
                </a:rPr>
                <a:t>AOV £34,153.33</a:t>
              </a:r>
              <a:endParaRPr lang="en-US" sz="1450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A4E442A-8ACB-A2FD-43B0-EB8C1F68B9D5}"/>
              </a:ext>
            </a:extLst>
          </p:cNvPr>
          <p:cNvGrpSpPr/>
          <p:nvPr/>
        </p:nvGrpSpPr>
        <p:grpSpPr>
          <a:xfrm>
            <a:off x="8954764" y="2327176"/>
            <a:ext cx="2575456" cy="1101824"/>
            <a:chOff x="6190301" y="2308225"/>
            <a:chExt cx="2575456" cy="1101824"/>
          </a:xfrm>
        </p:grpSpPr>
        <p:sp>
          <p:nvSpPr>
            <p:cNvPr id="9" name="Shape 7"/>
            <p:cNvSpPr/>
            <p:nvPr/>
          </p:nvSpPr>
          <p:spPr>
            <a:xfrm>
              <a:off x="6190301" y="2308225"/>
              <a:ext cx="2575456" cy="1101824"/>
            </a:xfrm>
            <a:prstGeom prst="roundRect">
              <a:avLst>
                <a:gd name="adj" fmla="val 25733"/>
              </a:avLst>
            </a:prstGeom>
            <a:solidFill>
              <a:srgbClr val="E6F7FF"/>
            </a:solidFill>
            <a:ln w="6350">
              <a:solidFill>
                <a:srgbClr val="B3D5E4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 8"/>
            <p:cNvSpPr/>
            <p:nvPr/>
          </p:nvSpPr>
          <p:spPr>
            <a:xfrm>
              <a:off x="6385658" y="2503587"/>
              <a:ext cx="2184742" cy="29527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850" kern="0" spc="-19" dirty="0">
                  <a:solidFill>
                    <a:srgbClr val="000000"/>
                  </a:solidFill>
                  <a:latin typeface="Alexandria Medium" pitchFamily="34" charset="0"/>
                  <a:ea typeface="Alexandria Medium" pitchFamily="34" charset="-122"/>
                  <a:cs typeface="Alexandria Medium" pitchFamily="34" charset="-120"/>
                </a:rPr>
                <a:t>Pune</a:t>
              </a:r>
              <a:endParaRPr lang="en-US" sz="185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6385658" y="2912269"/>
              <a:ext cx="2184742" cy="30241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33000"/>
                </a:lnSpc>
                <a:buNone/>
              </a:pPr>
              <a:r>
                <a:rPr lang="en-US" sz="1450" dirty="0">
                  <a:solidFill>
                    <a:srgbClr val="000000"/>
                  </a:solidFill>
                  <a:latin typeface="Manrope" pitchFamily="34" charset="0"/>
                  <a:ea typeface="Manrope" pitchFamily="34" charset="-122"/>
                  <a:cs typeface="Manrope" pitchFamily="34" charset="-120"/>
                </a:rPr>
                <a:t>AOV £31,981.15</a:t>
              </a:r>
              <a:endParaRPr lang="en-US" sz="145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55EBC34-312C-3638-4CED-5D5E26C560C2}"/>
              </a:ext>
            </a:extLst>
          </p:cNvPr>
          <p:cNvGrpSpPr/>
          <p:nvPr/>
        </p:nvGrpSpPr>
        <p:grpSpPr>
          <a:xfrm>
            <a:off x="2573420" y="4161234"/>
            <a:ext cx="2575456" cy="1101824"/>
            <a:chOff x="8954764" y="2308225"/>
            <a:chExt cx="2575456" cy="1101824"/>
          </a:xfrm>
        </p:grpSpPr>
        <p:sp>
          <p:nvSpPr>
            <p:cNvPr id="12" name="Shape 10"/>
            <p:cNvSpPr/>
            <p:nvPr/>
          </p:nvSpPr>
          <p:spPr>
            <a:xfrm>
              <a:off x="8954764" y="2308225"/>
              <a:ext cx="2575456" cy="1101824"/>
            </a:xfrm>
            <a:prstGeom prst="roundRect">
              <a:avLst>
                <a:gd name="adj" fmla="val 25733"/>
              </a:avLst>
            </a:prstGeom>
            <a:solidFill>
              <a:srgbClr val="E6F7FF"/>
            </a:solidFill>
            <a:ln w="6350">
              <a:solidFill>
                <a:srgbClr val="B3D5E4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 11"/>
            <p:cNvSpPr/>
            <p:nvPr/>
          </p:nvSpPr>
          <p:spPr>
            <a:xfrm>
              <a:off x="9150121" y="2503587"/>
              <a:ext cx="2184742" cy="29527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850" kern="0" spc="-19" dirty="0">
                  <a:solidFill>
                    <a:srgbClr val="000000"/>
                  </a:solidFill>
                  <a:latin typeface="Alexandria Medium" pitchFamily="34" charset="0"/>
                  <a:ea typeface="Alexandria Medium" pitchFamily="34" charset="-122"/>
                  <a:cs typeface="Alexandria Medium" pitchFamily="34" charset="-120"/>
                </a:rPr>
                <a:t>Jaipur</a:t>
              </a:r>
              <a:endParaRPr lang="en-US" sz="185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9150121" y="2912269"/>
              <a:ext cx="2184742" cy="30241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33000"/>
                </a:lnSpc>
                <a:buNone/>
              </a:pPr>
              <a:r>
                <a:rPr lang="en-US" sz="1450" dirty="0">
                  <a:solidFill>
                    <a:srgbClr val="000000"/>
                  </a:solidFill>
                  <a:latin typeface="Manrope" pitchFamily="34" charset="0"/>
                  <a:ea typeface="Manrope" pitchFamily="34" charset="-122"/>
                  <a:cs typeface="Manrope" pitchFamily="34" charset="-120"/>
                </a:rPr>
                <a:t>AOV £30,105.63</a:t>
              </a:r>
              <a:endParaRPr lang="en-US" sz="1450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93413C5-D28F-CD97-6245-BE544944C7EB}"/>
              </a:ext>
            </a:extLst>
          </p:cNvPr>
          <p:cNvGrpSpPr/>
          <p:nvPr/>
        </p:nvGrpSpPr>
        <p:grpSpPr>
          <a:xfrm>
            <a:off x="7043126" y="4161234"/>
            <a:ext cx="2575357" cy="1101824"/>
            <a:chOff x="661475" y="3599061"/>
            <a:chExt cx="2575357" cy="1101824"/>
          </a:xfrm>
        </p:grpSpPr>
        <p:sp>
          <p:nvSpPr>
            <p:cNvPr id="15" name="Shape 13"/>
            <p:cNvSpPr/>
            <p:nvPr/>
          </p:nvSpPr>
          <p:spPr>
            <a:xfrm>
              <a:off x="661475" y="3599061"/>
              <a:ext cx="2575357" cy="1101824"/>
            </a:xfrm>
            <a:prstGeom prst="roundRect">
              <a:avLst>
                <a:gd name="adj" fmla="val 25733"/>
              </a:avLst>
            </a:prstGeom>
            <a:solidFill>
              <a:srgbClr val="E6F7FF"/>
            </a:solidFill>
            <a:ln w="6350">
              <a:solidFill>
                <a:srgbClr val="B3D5E4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 14"/>
            <p:cNvSpPr/>
            <p:nvPr/>
          </p:nvSpPr>
          <p:spPr>
            <a:xfrm>
              <a:off x="856832" y="3794423"/>
              <a:ext cx="777415" cy="29527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850" kern="0" spc="-19" dirty="0">
                  <a:solidFill>
                    <a:srgbClr val="000000"/>
                  </a:solidFill>
                  <a:latin typeface="Alexandria Medium" pitchFamily="34" charset="0"/>
                  <a:ea typeface="Alexandria Medium" pitchFamily="34" charset="-122"/>
                  <a:cs typeface="Alexandria Medium" pitchFamily="34" charset="-120"/>
                </a:rPr>
                <a:t>Delhi</a:t>
              </a:r>
              <a:endParaRPr lang="en-US" sz="185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856832" y="4203105"/>
              <a:ext cx="1438896" cy="29527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33000"/>
                </a:lnSpc>
                <a:buNone/>
              </a:pPr>
              <a:r>
                <a:rPr lang="en-US" sz="1450" dirty="0">
                  <a:solidFill>
                    <a:srgbClr val="000000"/>
                  </a:solidFill>
                  <a:latin typeface="Manrope" pitchFamily="34" charset="0"/>
                  <a:ea typeface="Manrope" pitchFamily="34" charset="-122"/>
                  <a:cs typeface="Manrope" pitchFamily="34" charset="-120"/>
                </a:rPr>
                <a:t>AOV £28,301.45</a:t>
              </a:r>
              <a:endParaRPr lang="en-US" sz="1450" dirty="0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kern="0" spc="-19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Quantity vs Revenue Leaders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395191"/>
            <a:ext cx="531908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kern="0" spc="-9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Top by Quantity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61475" y="1871721"/>
            <a:ext cx="5928668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T‑Shirt — 259 units (best‑selling by volume)</a:t>
            </a:r>
            <a:endParaRPr lang="en-US" sz="1050" dirty="0"/>
          </a:p>
        </p:txBody>
      </p:sp>
      <p:pic>
        <p:nvPicPr>
          <p:cNvPr id="5" name="Image 0" descr="preencoded.png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721131" y="2472373"/>
            <a:ext cx="4562856" cy="3291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590143" y="1469010"/>
            <a:ext cx="531908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kern="0" spc="-9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Top by Revenue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590143" y="1871721"/>
            <a:ext cx="3468257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Laptop — 11,411,335.17 (highest revenue contributor)</a:t>
            </a:r>
            <a:endParaRPr lang="en-US" sz="10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 t="22699" b="23265"/>
          <a:stretch>
            <a:fillRect/>
          </a:stretch>
        </p:blipFill>
        <p:spPr>
          <a:xfrm>
            <a:off x="6590143" y="2472373"/>
            <a:ext cx="4566895" cy="3290438"/>
          </a:xfrm>
          <a:prstGeom prst="roundRect">
            <a:avLst>
              <a:gd name="adj" fmla="val 5860"/>
            </a:avLst>
          </a:prstGeom>
        </p:spPr>
      </p:pic>
      <p:sp>
        <p:nvSpPr>
          <p:cNvPr id="9" name="Text 5"/>
          <p:cNvSpPr/>
          <p:nvPr/>
        </p:nvSpPr>
        <p:spPr>
          <a:xfrm>
            <a:off x="661475" y="8492927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Volume leaders differ from revenue leaders — opportunity for cross‑sell combos to convert high volume buyers to higher value items.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kern="0" spc="-19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Revenue by Day of Week</a:t>
            </a:r>
            <a:endParaRPr lang="en-US" sz="37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376367B-007C-1469-F710-7C3980F70A58}"/>
              </a:ext>
            </a:extLst>
          </p:cNvPr>
          <p:cNvGrpSpPr/>
          <p:nvPr/>
        </p:nvGrpSpPr>
        <p:grpSpPr>
          <a:xfrm>
            <a:off x="1629662" y="1204813"/>
            <a:ext cx="8932675" cy="4637822"/>
            <a:chOff x="1247645" y="909538"/>
            <a:chExt cx="9696406" cy="5298678"/>
          </a:xfrm>
        </p:grpSpPr>
        <p:pic>
          <p:nvPicPr>
            <p:cNvPr id="3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47645" y="909538"/>
              <a:ext cx="9696406" cy="5298678"/>
            </a:xfrm>
            <a:prstGeom prst="rect">
              <a:avLst/>
            </a:prstGeom>
          </p:spPr>
        </p:pic>
        <p:sp>
          <p:nvSpPr>
            <p:cNvPr id="4" name="Text 1"/>
            <p:cNvSpPr/>
            <p:nvPr/>
          </p:nvSpPr>
          <p:spPr>
            <a:xfrm>
              <a:off x="2526245" y="3392284"/>
              <a:ext cx="2246753" cy="30568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ct val="104000"/>
                </a:lnSpc>
                <a:buNone/>
              </a:pPr>
              <a:r>
                <a:rPr lang="en-US" sz="1900" kern="0" spc="-19" dirty="0">
                  <a:solidFill>
                    <a:srgbClr val="5B6E8C"/>
                  </a:solidFill>
                  <a:latin typeface="Alexandria Medium" pitchFamily="34" charset="0"/>
                  <a:ea typeface="Alexandria Medium" pitchFamily="34" charset="-122"/>
                  <a:cs typeface="Alexandria Medium" pitchFamily="34" charset="-120"/>
                </a:rPr>
                <a:t>High: Tuesday</a:t>
              </a:r>
              <a:endParaRPr lang="en-US" sz="1900" dirty="0"/>
            </a:p>
          </p:txBody>
        </p:sp>
        <p:sp>
          <p:nvSpPr>
            <p:cNvPr id="5" name="Text 2"/>
            <p:cNvSpPr/>
            <p:nvPr/>
          </p:nvSpPr>
          <p:spPr>
            <a:xfrm>
              <a:off x="8199678" y="3204965"/>
              <a:ext cx="2246753" cy="61137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ctr">
                <a:lnSpc>
                  <a:spcPct val="104000"/>
                </a:lnSpc>
                <a:buNone/>
              </a:pPr>
              <a:r>
                <a:rPr lang="en-US" sz="1900" kern="0" spc="-19" dirty="0">
                  <a:solidFill>
                    <a:srgbClr val="5B6E8C"/>
                  </a:solidFill>
                  <a:latin typeface="Alexandria Medium" pitchFamily="34" charset="0"/>
                  <a:ea typeface="Alexandria Medium" pitchFamily="34" charset="-122"/>
                  <a:cs typeface="Alexandria Medium" pitchFamily="34" charset="-120"/>
                </a:rPr>
                <a:t>Mid: Monday–Sunday</a:t>
              </a:r>
              <a:endParaRPr lang="en-US" sz="1900" dirty="0"/>
            </a:p>
          </p:txBody>
        </p:sp>
        <p:sp>
          <p:nvSpPr>
            <p:cNvPr id="6" name="Text 3"/>
            <p:cNvSpPr/>
            <p:nvPr/>
          </p:nvSpPr>
          <p:spPr>
            <a:xfrm>
              <a:off x="5428174" y="3368848"/>
              <a:ext cx="2246753" cy="30568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ct val="104000"/>
                </a:lnSpc>
                <a:buNone/>
              </a:pPr>
              <a:r>
                <a:rPr lang="en-US" sz="1900" kern="0" spc="-19" dirty="0">
                  <a:solidFill>
                    <a:srgbClr val="5B6E8C"/>
                  </a:solidFill>
                  <a:latin typeface="Alexandria Medium" pitchFamily="34" charset="0"/>
                  <a:ea typeface="Alexandria Medium" pitchFamily="34" charset="-122"/>
                  <a:cs typeface="Alexandria Medium" pitchFamily="34" charset="-120"/>
                </a:rPr>
                <a:t>Low: Saturday</a:t>
              </a:r>
              <a:endParaRPr lang="en-US" sz="1900" dirty="0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627" y="117568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kern="0" spc="-37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Top 3 Products </a:t>
            </a:r>
            <a:r>
              <a:rPr lang="en-US" sz="3700" kern="0" spc="-37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per Category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627" y="2714367"/>
            <a:ext cx="762378" cy="9529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60239" y="2756357"/>
            <a:ext cx="246681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0" spc="-19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Accessories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660238" y="3190865"/>
            <a:ext cx="246681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 Watch — </a:t>
            </a:r>
            <a:r>
              <a:rPr lang="en-US" sz="145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1,203,724.82 </a:t>
            </a:r>
            <a:endParaRPr lang="vi-VN" sz="1450">
              <a:solidFill>
                <a:srgbClr val="5B6E8C"/>
              </a:solidFill>
              <a:latin typeface="Manrope" pitchFamily="34" charset="0"/>
              <a:ea typeface="Manrope" pitchFamily="34" charset="-122"/>
              <a:cs typeface="Manrope" pitchFamily="34" charset="-12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 </a:t>
            </a: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Backpack — 426,721.67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3285" y="2748449"/>
            <a:ext cx="762378" cy="95299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80618" y="2756357"/>
            <a:ext cx="246681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0" spc="-19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Electronics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5280618" y="3187422"/>
            <a:ext cx="263417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 Laptop — </a:t>
            </a:r>
            <a:r>
              <a:rPr lang="en-US" sz="145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11,411,335.17 </a:t>
            </a:r>
            <a:endParaRPr lang="vi-VN" sz="1450">
              <a:solidFill>
                <a:srgbClr val="5B6E8C"/>
              </a:solidFill>
              <a:latin typeface="Manrope" pitchFamily="34" charset="0"/>
              <a:ea typeface="Manrope" pitchFamily="34" charset="-122"/>
              <a:cs typeface="Manrope" pitchFamily="34" charset="-12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 </a:t>
            </a: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Tablet — </a:t>
            </a:r>
            <a:r>
              <a:rPr lang="en-US" sz="145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5,933,914.06 </a:t>
            </a:r>
            <a:endParaRPr lang="vi-VN" sz="1450">
              <a:solidFill>
                <a:srgbClr val="5B6E8C"/>
              </a:solidFill>
              <a:latin typeface="Manrope" pitchFamily="34" charset="0"/>
              <a:ea typeface="Manrope" pitchFamily="34" charset="-122"/>
              <a:cs typeface="Manrope" pitchFamily="34" charset="-12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 </a:t>
            </a: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Smartphone — 3,535,262.79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943" y="2756357"/>
            <a:ext cx="762378" cy="95299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063558" y="2756952"/>
            <a:ext cx="246681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0" spc="-19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Home Appliances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9063710" y="3187422"/>
            <a:ext cx="246681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 Air Fryer — </a:t>
            </a:r>
            <a:r>
              <a:rPr lang="en-US" sz="145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1,533,421.53 </a:t>
            </a:r>
            <a:endParaRPr lang="vi-VN" sz="1450">
              <a:solidFill>
                <a:srgbClr val="5B6E8C"/>
              </a:solidFill>
              <a:latin typeface="Manrope" pitchFamily="34" charset="0"/>
              <a:ea typeface="Manrope" pitchFamily="34" charset="-122"/>
              <a:cs typeface="Manrope" pitchFamily="34" charset="-12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 </a:t>
            </a: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Coffee Maker — 812,719.87 · 3 Mixer — 795,340.32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32817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kern="0" spc="-28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Recommendations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1448634"/>
            <a:ext cx="2637466" cy="1596430"/>
          </a:xfrm>
          <a:prstGeom prst="roundRect">
            <a:avLst>
              <a:gd name="adj" fmla="val 13320"/>
            </a:avLst>
          </a:prstGeom>
          <a:solidFill>
            <a:srgbClr val="E6F7FF"/>
          </a:solidFill>
          <a:ln w="6350">
            <a:solidFill>
              <a:srgbClr val="B3D5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09506" y="1596668"/>
            <a:ext cx="234140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14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Focus Inventory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09506" y="1881823"/>
            <a:ext cx="2341405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Prioritise stock &amp; warranty optimisation for Laptops and Tablets — primary revenue drivers.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405202" y="1448634"/>
            <a:ext cx="2637466" cy="1596430"/>
          </a:xfrm>
          <a:prstGeom prst="roundRect">
            <a:avLst>
              <a:gd name="adj" fmla="val 13320"/>
            </a:avLst>
          </a:prstGeom>
          <a:solidFill>
            <a:srgbClr val="E6F7FF"/>
          </a:solidFill>
          <a:ln w="6350">
            <a:solidFill>
              <a:srgbClr val="B3D5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553232" y="1596668"/>
            <a:ext cx="234140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14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Bundle &amp; Cross‑sell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553232" y="1881823"/>
            <a:ext cx="2341405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Use high‑volume items (T‑Shirts, accessories) in combos to upsell higher‑value products.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48928" y="1448634"/>
            <a:ext cx="2637466" cy="1596430"/>
          </a:xfrm>
          <a:prstGeom prst="roundRect">
            <a:avLst>
              <a:gd name="adj" fmla="val 13320"/>
            </a:avLst>
          </a:prstGeom>
          <a:solidFill>
            <a:srgbClr val="E6F7FF"/>
          </a:solidFill>
          <a:ln w="6350">
            <a:solidFill>
              <a:srgbClr val="B3D5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296959" y="1596668"/>
            <a:ext cx="234140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14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Timing Promotions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296959" y="1881823"/>
            <a:ext cx="2341405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Concentrate marketing + flash sales on Monday–Tuesday when revenue is strongest.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814671" y="1448634"/>
            <a:ext cx="2637565" cy="1596430"/>
          </a:xfrm>
          <a:prstGeom prst="roundRect">
            <a:avLst>
              <a:gd name="adj" fmla="val 13320"/>
            </a:avLst>
          </a:prstGeom>
          <a:solidFill>
            <a:srgbClr val="E6F7FF"/>
          </a:solidFill>
          <a:ln w="6350">
            <a:solidFill>
              <a:srgbClr val="B3D5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040686" y="1596668"/>
            <a:ext cx="2341504" cy="442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14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City‑Segmented Marketing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040686" y="1881823"/>
            <a:ext cx="2341504" cy="793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Push premium offerings in Bangalore &amp; Kolkata (high AOV); use discounts/combos in Hyderabad &amp; Ahmedabad (low AOV).</a:t>
            </a:r>
            <a:endParaRPr lang="en-US" sz="110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3232" y="3368081"/>
            <a:ext cx="5261439" cy="298152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405</Words>
  <Application>Microsoft Office PowerPoint</Application>
  <PresentationFormat>Widescreen</PresentationFormat>
  <Paragraphs>71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Alexandria Medium</vt:lpstr>
      <vt:lpstr>Manrope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Nguyen Hai</cp:lastModifiedBy>
  <cp:revision>2</cp:revision>
  <dcterms:created xsi:type="dcterms:W3CDTF">2026-09-06T06:26:21Z</dcterms:created>
  <dcterms:modified xsi:type="dcterms:W3CDTF">2026-09-06T06:45:25Z</dcterms:modified>
</cp:coreProperties>
</file>